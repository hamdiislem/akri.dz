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657600"/>
            <a:ext cx="2286000" cy="1485900"/>
          </a:xfrm>
          <a:prstGeom prst="rect">
            <a:avLst/>
          </a:prstGeom>
          <a:solidFill>
            <a:srgbClr val="1A4F8A">
              <a:alpha val="4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645920" cy="1645920"/>
          </a:xfrm>
          <a:prstGeom prst="rect">
            <a:avLst/>
          </a:prstGeom>
          <a:solidFill>
            <a:srgbClr val="1A4F8A">
              <a:alpha val="2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Akri.dz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1148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Location de Voitures en Algérie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— AOS 2024-2025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Hamdi Mohamed Islem  ·  Aya Ghernout  ·  Meriem Foudi  ·  Sidi Yasmine  |  M1 GL — Université de Boumerdès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Plateforme dédiée au marché algérien — 58 wilayas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64008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Connecter clients et agences de location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06040"/>
            <a:ext cx="64008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4 rôles : Visiteur, Client, Agence, Administrateur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37560"/>
            <a:ext cx="64008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75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Interface web responsive — Django + Tailwind CSS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69080"/>
            <a:ext cx="64008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Déploiement cloud indépendant sur Render.com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services indépendants déployés sur Render.com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1188720" cy="594360"/>
          </a:xfrm>
          <a:prstGeom prst="rect">
            <a:avLst/>
          </a:prstGeom>
          <a:solidFill>
            <a:srgbClr val="16254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63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1760220"/>
            <a:ext cx="59436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16504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5E3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463040"/>
            <a:ext cx="1417320" cy="594360"/>
          </a:xfrm>
          <a:prstGeom prst="rect">
            <a:avLst/>
          </a:prstGeom>
          <a:solidFill>
            <a:srgbClr val="1A4F8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4630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760220"/>
            <a:ext cx="64008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9352" y="16504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5E3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69080" y="1234440"/>
            <a:ext cx="141732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12344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760220"/>
            <a:ext cx="64008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2" y="16504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5E3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9080" y="1965960"/>
            <a:ext cx="1417320" cy="594360"/>
          </a:xfrm>
          <a:prstGeom prst="rect">
            <a:avLst/>
          </a:prstGeom>
          <a:solidFill>
            <a:srgbClr val="5E4A1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6908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1760220"/>
            <a:ext cx="0" cy="-301752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1536192"/>
            <a:ext cx="64008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760220"/>
            <a:ext cx="0" cy="438912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2267712"/>
            <a:ext cx="64008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2267712"/>
            <a:ext cx="64008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5E3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965960"/>
            <a:ext cx="1417320" cy="594360"/>
          </a:xfrm>
          <a:prstGeom prst="rect">
            <a:avLst/>
          </a:prstGeom>
          <a:solidFill>
            <a:srgbClr val="3A1A5E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2267712"/>
            <a:ext cx="64008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5E3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063240"/>
            <a:ext cx="8595360" cy="1508760"/>
          </a:xfrm>
          <a:prstGeom prst="rect">
            <a:avLst/>
          </a:prstGeom>
          <a:solidFill>
            <a:srgbClr val="0A0F1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Cloud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429000"/>
            <a:ext cx="1920240" cy="548640"/>
          </a:xfrm>
          <a:prstGeom prst="rect">
            <a:avLst/>
          </a:prstGeom>
          <a:solidFill>
            <a:srgbClr val="336699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06040" y="3429000"/>
            <a:ext cx="1920240" cy="548640"/>
          </a:xfrm>
          <a:prstGeom prst="rect">
            <a:avLst/>
          </a:prstGeom>
          <a:solidFill>
            <a:srgbClr val="CC440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0604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429000"/>
            <a:ext cx="1920240" cy="548640"/>
          </a:xfrm>
          <a:prstGeom prst="rect">
            <a:avLst/>
          </a:prstGeom>
          <a:solidFill>
            <a:srgbClr val="B8545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3429000"/>
            <a:ext cx="192024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0372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Services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1097280"/>
            <a:ext cx="14630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08760" y="1097280"/>
            <a:ext cx="292608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097280"/>
            <a:ext cx="228600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1097280"/>
            <a:ext cx="23774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097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" y="1554480"/>
            <a:ext cx="146304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1554480"/>
            <a:ext cx="292608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81912" y="1554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web, proxy vers Auth &amp;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554480"/>
            <a:ext cx="22860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:8002 + Tailwind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1554480"/>
            <a:ext cx="237744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akri-frontend.onrender.com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" y="2194560"/>
            <a:ext cx="1463040" cy="640080"/>
          </a:xfrm>
          <a:prstGeom prst="rect">
            <a:avLst/>
          </a:prstGeom>
          <a:solidFill>
            <a:srgbClr val="1A5E3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" y="2194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08760" y="2194560"/>
            <a:ext cx="2926080" cy="640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1912" y="2194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Comptes, JWT, Redis blacklist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2194560"/>
            <a:ext cx="2286000" cy="640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DRF :8000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2194560"/>
            <a:ext cx="2377440" cy="640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akri-auth.onrender.com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" y="2834640"/>
            <a:ext cx="1463040" cy="640080"/>
          </a:xfrm>
          <a:prstGeom prst="rect">
            <a:avLst/>
          </a:prstGeom>
          <a:solidFill>
            <a:srgbClr val="5E4A1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" y="2834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508760" y="2834640"/>
            <a:ext cx="292608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81912" y="28346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Voitures, réservations, avis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834640"/>
            <a:ext cx="22860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DRF :8001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2834640"/>
            <a:ext cx="237744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akri-api.onrender.com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" y="3474720"/>
            <a:ext cx="1463040" cy="640080"/>
          </a:xfrm>
          <a:prstGeom prst="rect">
            <a:avLst/>
          </a:prstGeom>
          <a:solidFill>
            <a:srgbClr val="3A1A5E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3474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508760" y="3474720"/>
            <a:ext cx="2926080" cy="640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81912" y="3474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asynchrones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74720"/>
            <a:ext cx="2286000" cy="640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07992" y="3474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Pika (AMQPS)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3474720"/>
            <a:ext cx="2377440" cy="640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93992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akri-worker.onrender.com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REST Synchrone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371600"/>
            <a:ext cx="1280160" cy="548640"/>
          </a:xfrm>
          <a:prstGeom prst="rect">
            <a:avLst/>
          </a:prstGeom>
          <a:solidFill>
            <a:srgbClr val="16254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645920"/>
            <a:ext cx="54864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HTTP + cookie JWT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1371600"/>
            <a:ext cx="1554480" cy="548640"/>
          </a:xfrm>
          <a:prstGeom prst="rect">
            <a:avLst/>
          </a:prstGeom>
          <a:solidFill>
            <a:srgbClr val="1A4F8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645920"/>
            <a:ext cx="54864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645920"/>
            <a:ext cx="0" cy="-59436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234440"/>
            <a:ext cx="54864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868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REST /api/auth/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645920" cy="548640"/>
          </a:xfrm>
          <a:prstGeom prst="rect">
            <a:avLst/>
          </a:prstGeom>
          <a:solidFill>
            <a:srgbClr val="1A5E3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960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1645920"/>
            <a:ext cx="0" cy="54864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2194560"/>
            <a:ext cx="54864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REST /api/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0" y="2560320"/>
            <a:ext cx="1645920" cy="548640"/>
          </a:xfrm>
          <a:prstGeom prst="rect">
            <a:avLst/>
          </a:prstGeom>
          <a:solidFill>
            <a:srgbClr val="5E4A1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834640"/>
            <a:ext cx="548640" cy="0"/>
          </a:xfrm>
          <a:prstGeom prst="line">
            <a:avLst/>
          </a:prstGeom>
          <a:noFill/>
          <a:ln w="25400">
            <a:solidFill>
              <a:srgbClr val="8BA8C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309360" y="2834640"/>
            <a:ext cx="0" cy="-1051560"/>
          </a:xfrm>
          <a:prstGeom prst="line">
            <a:avLst/>
          </a:prstGeom>
          <a:noFill/>
          <a:ln w="25400">
            <a:solidFill>
              <a:srgbClr val="8BA8C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309360" y="1234440"/>
            <a:ext cx="0" cy="0"/>
          </a:xfrm>
          <a:prstGeom prst="line">
            <a:avLst/>
          </a:prstGeom>
          <a:noFill/>
          <a:ln w="25400">
            <a:solidFill>
              <a:srgbClr val="8BA8C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40080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A8C4"/>
                </a:solidFill>
              </a:rPr>
              <a:t>verify token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stocké en cookie httpOnly — invisible au JavaScript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8679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Toutes les requêtes passent obligatoirement par le Frontend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215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L'API vérifie chaque token via l'Auth Service (middleware Consul-aware)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— Consul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93192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2560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35608"/>
            <a:ext cx="36576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s'enregistre au démarrage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 découvre Auth via Consul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toutes les 10 secondes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vérification : /api/auth/verify/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s'enregistre au démarrage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 découvre Auth via Consul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toutes les 10 secondes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vérification : /api/auth/verify/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A4F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64008" cy="2560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sur Render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CONSUL_HOST vide  →  fallback automatique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AUTH_SERVICE_URL utilisé en remplacement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Consul-aware sans dépendance forcée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modification de code requise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868680"/>
          </a:xfrm>
          <a:prstGeom prst="rect">
            <a:avLst/>
          </a:prstGeom>
          <a:solidFill>
            <a:srgbClr val="1A4F8A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prête pour activation en production — Code Consul déjà présent dans chaque service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Asynchrone — RabbitMQ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463040"/>
            <a:ext cx="1737360" cy="594360"/>
          </a:xfrm>
          <a:prstGeom prst="rect">
            <a:avLst/>
          </a:prstGeom>
          <a:solidFill>
            <a:srgbClr val="5E4A1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63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760220"/>
            <a:ext cx="91440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005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AMQPS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publish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1463040"/>
            <a:ext cx="2194560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463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CloudAMQP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(RabbitMQ)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760220"/>
            <a:ext cx="914400" cy="0"/>
          </a:xfrm>
          <a:prstGeom prst="line">
            <a:avLst/>
          </a:prstGeom>
          <a:noFill/>
          <a:ln w="25400">
            <a:solidFill>
              <a:srgbClr val="7AB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005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AMQPS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consume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011680" cy="594360"/>
          </a:xfrm>
          <a:prstGeom prst="rect">
            <a:avLst/>
          </a:prstGeom>
          <a:solidFill>
            <a:srgbClr val="3A1A5E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463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64008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booking.confirmed 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Réservation confirmée par l'agence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1840"/>
            <a:ext cx="64008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booking.cancelled 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Réservation annulée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Découplage : Worker indépendant de la logique métier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25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Extensible : email, SMS, push notifications sans toucher l'API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725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Broker managé CloudAMQP — haute disponibilité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416052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60520" cy="36576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PyJWT HS256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valide 7 jours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Cookie httpOnly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Invisible au JavaScript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140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Algorithme HS256 + clé secrète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6052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4160520" cy="365760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Blacklist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536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Invalidation à la déconnexion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Vérification systématique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121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Empêche la réutilisation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4140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Instance Render managée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16052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4160520" cy="365760"/>
          </a:xfrm>
          <a:prstGeom prst="rect">
            <a:avLst/>
          </a:prstGeom>
          <a:solidFill>
            <a:srgbClr val="F39C12">
              <a:alpha val="8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par rôle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319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→ réservations &amp; profil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agency → tableau de bord &amp; flotte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904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→ modération &amp; gestion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1970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Rôle encodé dans le payload JWT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16052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80360"/>
            <a:ext cx="4160520" cy="365760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verrouillé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319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Origines Render uniquement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611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Frontend, Auth, API autorisés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904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Toute autre origine rejetée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1970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Configuration par variable env.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Multi-Serveurs — Render.com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51560"/>
            <a:ext cx="2103120" cy="1554480"/>
          </a:xfrm>
          <a:prstGeom prst="rect">
            <a:avLst/>
          </a:prstGeom>
          <a:solidFill>
            <a:srgbClr val="162032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210312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akri-frontend.onrender.com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2103120" cy="1554480"/>
          </a:xfrm>
          <a:prstGeom prst="rect">
            <a:avLst/>
          </a:prstGeom>
          <a:solidFill>
            <a:srgbClr val="162032"/>
          </a:solidFill>
          <a:ln w="25400">
            <a:solidFill>
              <a:srgbClr val="1A5E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051560"/>
            <a:ext cx="2103120" cy="41148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051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6312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akri-auth.onrender.com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96312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2103120" cy="1554480"/>
          </a:xfrm>
          <a:prstGeom prst="rect">
            <a:avLst/>
          </a:prstGeom>
          <a:solidFill>
            <a:srgbClr val="162032"/>
          </a:solidFill>
          <a:ln w="25400">
            <a:solidFill>
              <a:srgbClr val="5E4A1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2103120" cy="411480"/>
          </a:xfrm>
          <a:prstGeom prst="rect">
            <a:avLst/>
          </a:prstGeom>
          <a:solidFill>
            <a:srgbClr val="5E4A1A"/>
          </a:solidFill>
          <a:ln w="12700">
            <a:solidFill>
              <a:srgbClr val="5E4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51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6592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akri-api.onrender.com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2103120" cy="1554480"/>
          </a:xfrm>
          <a:prstGeom prst="rect">
            <a:avLst/>
          </a:prstGeom>
          <a:solidFill>
            <a:srgbClr val="162032"/>
          </a:solidFill>
          <a:ln w="25400">
            <a:solidFill>
              <a:srgbClr val="3A1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51560"/>
            <a:ext cx="2103120" cy="411480"/>
          </a:xfrm>
          <a:prstGeom prst="rect">
            <a:avLst/>
          </a:prstGeom>
          <a:solidFill>
            <a:srgbClr val="3A1A5E"/>
          </a:solidFill>
          <a:ln w="12700">
            <a:solidFill>
              <a:srgbClr val="3A1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051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76872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5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akri-worker.onrender.com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76872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partagée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3108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PostgreSQL (Render managed)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108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Redis (Render managed)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520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CloudAMQP — RabbitMQ cloud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520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Cloudinary — CDN images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A4F8A">
              <a:alpha val="6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B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 séparées par service — Aucune configuration partagée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Métier — Cycle de Réservation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22860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228600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828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2286000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828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3108960"/>
            <a:ext cx="228600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31089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2171700"/>
            <a:ext cx="54864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171700"/>
            <a:ext cx="548640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514600"/>
            <a:ext cx="0" cy="594360"/>
          </a:xfrm>
          <a:prstGeom prst="line">
            <a:avLst/>
          </a:prstGeom>
          <a:noFill/>
          <a:ln w="25400">
            <a:solidFill>
              <a:srgbClr val="E74C3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74320" y="3895344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136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soumet une demande → PENDING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87952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confirme → CONFIRMED   +   event booking.confirmed publié sur RabbitMQ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480560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4988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termine la location → COMPLETED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773168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73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7914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 → CANCELLED   +   event booking.cancelled publié sur RabbitMQ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Activation de Consul en production — code déjà présent dans chaque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64008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Notifications email / SMS via le Notification Worker — architecture extensible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7AB5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77440"/>
            <a:ext cx="64008" cy="548640"/>
          </a:xfrm>
          <a:prstGeom prst="rect">
            <a:avLst/>
          </a:prstGeom>
          <a:solidFill>
            <a:srgbClr val="7AB5E3"/>
          </a:solidFill>
          <a:ln w="12700">
            <a:solidFill>
              <a:srgbClr val="7AB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Application mobile React Native ou Flutter utilisant le même API Service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17520"/>
            <a:ext cx="64008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17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Système de paiement intégré — CIB, Dahabia (cartes bancaires algériennes)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57600"/>
            <a:ext cx="64008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57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Traefik comme reverse proxy avec TLS automatique et routing avancé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297680"/>
            <a:ext cx="64008" cy="5486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97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Monitoring avec Prometheus + Grafana — métriques et alertes en temps réel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017520"/>
          </a:xfrm>
          <a:prstGeom prst="rect">
            <a:avLst/>
          </a:prstGeom>
          <a:solidFill>
            <a:srgbClr val="16203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implémenté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microservices déployés indépendamment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synchrone + RabbitMQ asynchrone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5973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+ Redis blacklist + CORS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3522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Consul service discovery (fallback gracieux)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107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Interface web complète — 58 wilayas, tous rôles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3017520"/>
          </a:xfrm>
          <a:prstGeom prst="rect">
            <a:avLst/>
          </a:prstGeom>
          <a:solidFill>
            <a:srgbClr val="162032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AOS couverts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: architecture microservices documentée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984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Implémentation : code fonctionnel en production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4597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Multi-serveurs : 4 services Render indépendants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9352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Async + Sécurité : RabbitMQ + JWT + Redis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410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Documentation : rapport + diagramme + slides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7101C"/>
          </a:solidFill>
          <a:ln w="12700">
            <a:solidFill>
              <a:srgbClr val="0710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605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Akri.dz — Location de voitures en Algérie  |  AOS 2024-2025  |  Hamdi Mohamed Islem · Aya Ghernout · Meriem Foudi · Sidi Yasmine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Akri.dz — Architecture Microservices</dc:title>
  <dc:subject>PptxGenJS Presentation</dc:subject>
  <dc:creator>Hamdi Islem</dc:creator>
  <cp:lastModifiedBy>Hamdi Islem</cp:lastModifiedBy>
  <cp:revision>1</cp:revision>
  <dcterms:created xsi:type="dcterms:W3CDTF">2026-05-03T20:06:25Z</dcterms:created>
  <dcterms:modified xsi:type="dcterms:W3CDTF">2026-05-03T20:06:25Z</dcterms:modified>
</cp:coreProperties>
</file>