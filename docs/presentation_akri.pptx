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3657600"/>
            <a:ext cx="2286000" cy="1485900"/>
          </a:xfrm>
          <a:prstGeom prst="rect">
            <a:avLst/>
          </a:prstGeom>
          <a:solidFill>
            <a:srgbClr val="1A4F8A">
              <a:alpha val="40000"/>
            </a:srgbClr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2926080"/>
            <a:ext cx="1645920" cy="1645920"/>
          </a:xfrm>
          <a:prstGeom prst="rect">
            <a:avLst/>
          </a:prstGeom>
          <a:solidFill>
            <a:srgbClr val="1A4F8A">
              <a:alpha val="25000"/>
            </a:srgbClr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Akri.dz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4114800" cy="640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46888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7AB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de Location de Voitures en Algérie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8B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Microservices — AOS 2024-2025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Hamdi Islem  |  M1 Génie Logiciel  |  Université de Boumerdès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Objectifs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097280" cy="5029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43000"/>
            <a:ext cx="8229600" cy="594360"/>
          </a:xfrm>
          <a:prstGeom prst="rect">
            <a:avLst/>
          </a:prstGeom>
          <a:solidFill>
            <a:srgbClr val="162032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43000"/>
            <a:ext cx="64008" cy="59436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43000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Plateforme dédiée au marché algérien — 58 wilayas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8229600" cy="594360"/>
          </a:xfrm>
          <a:prstGeom prst="rect">
            <a:avLst/>
          </a:prstGeom>
          <a:solidFill>
            <a:srgbClr val="162032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874520"/>
            <a:ext cx="64008" cy="59436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74520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 Connecter clients et agences de location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8229600" cy="594360"/>
          </a:xfrm>
          <a:prstGeom prst="rect">
            <a:avLst/>
          </a:prstGeom>
          <a:solidFill>
            <a:srgbClr val="162032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606040"/>
            <a:ext cx="64008" cy="59436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06040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4 rôles : Visiteur, Client, Agence, Administrateur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8229600" cy="594360"/>
          </a:xfrm>
          <a:prstGeom prst="rect">
            <a:avLst/>
          </a:prstGeom>
          <a:solidFill>
            <a:srgbClr val="162032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337560"/>
            <a:ext cx="64008" cy="59436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337560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 Interface web responsive — Django + Tailwind CSS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solidFill>
            <a:srgbClr val="162032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4069080"/>
            <a:ext cx="64008" cy="59436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69080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Déploiement cloud indépendant sur Render.com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Microservices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097280" cy="5029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AB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services indépendants déployés sur Render.com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1463040"/>
            <a:ext cx="1188720" cy="594360"/>
          </a:xfrm>
          <a:prstGeom prst="rect">
            <a:avLst/>
          </a:prstGeom>
          <a:solidFill>
            <a:srgbClr val="162540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28600" y="146304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417320" y="1760220"/>
            <a:ext cx="594360" cy="0"/>
          </a:xfrm>
          <a:prstGeom prst="line">
            <a:avLst/>
          </a:prstGeom>
          <a:noFill/>
          <a:ln w="25400">
            <a:solidFill>
              <a:srgbClr val="7AB5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01952" y="165049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B5E3"/>
                </a:solidFill>
              </a:rPr>
              <a:t>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11680" y="1463040"/>
            <a:ext cx="1417320" cy="594360"/>
          </a:xfrm>
          <a:prstGeom prst="rect">
            <a:avLst/>
          </a:prstGeom>
          <a:solidFill>
            <a:srgbClr val="1A4F8A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11680" y="146304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:8002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29000" y="1760220"/>
            <a:ext cx="640080" cy="0"/>
          </a:xfrm>
          <a:prstGeom prst="line">
            <a:avLst/>
          </a:prstGeom>
          <a:noFill/>
          <a:ln w="25400">
            <a:solidFill>
              <a:srgbClr val="7AB5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59352" y="165049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B5E3"/>
                </a:solidFill>
              </a:rPr>
              <a:t>▶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234440"/>
            <a:ext cx="1417320" cy="594360"/>
          </a:xfrm>
          <a:prstGeom prst="rect">
            <a:avLst/>
          </a:prstGeom>
          <a:solidFill>
            <a:srgbClr val="1A5E3A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069080" y="123444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:8000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29000" y="1760220"/>
            <a:ext cx="640080" cy="0"/>
          </a:xfrm>
          <a:prstGeom prst="line">
            <a:avLst/>
          </a:prstGeom>
          <a:noFill/>
          <a:ln w="25400">
            <a:solidFill>
              <a:srgbClr val="7AB5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59352" y="165049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B5E3"/>
                </a:solidFill>
              </a:rPr>
              <a:t>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069080" y="1965960"/>
            <a:ext cx="1417320" cy="594360"/>
          </a:xfrm>
          <a:prstGeom prst="rect">
            <a:avLst/>
          </a:prstGeom>
          <a:solidFill>
            <a:srgbClr val="5E4A1A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069080" y="196596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:8001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29000" y="1760220"/>
            <a:ext cx="0" cy="-301752"/>
          </a:xfrm>
          <a:prstGeom prst="line">
            <a:avLst/>
          </a:prstGeom>
          <a:noFill/>
          <a:ln w="25400">
            <a:solidFill>
              <a:srgbClr val="7AB5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29000" y="1536192"/>
            <a:ext cx="640080" cy="0"/>
          </a:xfrm>
          <a:prstGeom prst="line">
            <a:avLst/>
          </a:prstGeom>
          <a:noFill/>
          <a:ln w="25400">
            <a:solidFill>
              <a:srgbClr val="7AB5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29000" y="1760220"/>
            <a:ext cx="0" cy="438912"/>
          </a:xfrm>
          <a:prstGeom prst="line">
            <a:avLst/>
          </a:prstGeom>
          <a:noFill/>
          <a:ln w="25400">
            <a:solidFill>
              <a:srgbClr val="7AB5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29000" y="2267712"/>
            <a:ext cx="640080" cy="0"/>
          </a:xfrm>
          <a:prstGeom prst="line">
            <a:avLst/>
          </a:prstGeom>
          <a:noFill/>
          <a:ln w="25400">
            <a:solidFill>
              <a:srgbClr val="7AB5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0" y="2267712"/>
            <a:ext cx="640080" cy="0"/>
          </a:xfrm>
          <a:prstGeom prst="line">
            <a:avLst/>
          </a:prstGeom>
          <a:noFill/>
          <a:ln w="25400">
            <a:solidFill>
              <a:srgbClr val="7AB5E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16752" y="215798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B5E3"/>
                </a:solidFill>
              </a:rPr>
              <a:t>▶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26480" y="1965960"/>
            <a:ext cx="1417320" cy="594360"/>
          </a:xfrm>
          <a:prstGeom prst="rect">
            <a:avLst/>
          </a:prstGeom>
          <a:solidFill>
            <a:srgbClr val="3A1A5E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126480" y="196596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0" y="2267712"/>
            <a:ext cx="640080" cy="0"/>
          </a:xfrm>
          <a:prstGeom prst="line">
            <a:avLst/>
          </a:prstGeom>
          <a:noFill/>
          <a:ln w="25400">
            <a:solidFill>
              <a:srgbClr val="7AB5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16752" y="215798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B5E3"/>
                </a:solidFill>
              </a:rPr>
              <a:t>▶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3063240"/>
            <a:ext cx="8595360" cy="1508760"/>
          </a:xfrm>
          <a:prstGeom prst="rect">
            <a:avLst/>
          </a:prstGeom>
          <a:solidFill>
            <a:srgbClr val="0A0F1A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090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Cloud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3429000"/>
            <a:ext cx="1920240" cy="548640"/>
          </a:xfrm>
          <a:prstGeom prst="rect">
            <a:avLst/>
          </a:prstGeom>
          <a:solidFill>
            <a:srgbClr val="336699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57200" y="3429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606040" y="3429000"/>
            <a:ext cx="1920240" cy="548640"/>
          </a:xfrm>
          <a:prstGeom prst="rect">
            <a:avLst/>
          </a:prstGeom>
          <a:solidFill>
            <a:srgbClr val="CC4400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2606040" y="3429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54880" y="3429000"/>
            <a:ext cx="1920240" cy="548640"/>
          </a:xfrm>
          <a:prstGeom prst="rect">
            <a:avLst/>
          </a:prstGeom>
          <a:solidFill>
            <a:srgbClr val="B85450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754880" y="3429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903720" y="3429000"/>
            <a:ext cx="1920240" cy="5486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903720" y="3429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Cloudinary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Services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097280" cy="5029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" y="1097280"/>
            <a:ext cx="1463040" cy="457200"/>
          </a:xfrm>
          <a:prstGeom prst="rect">
            <a:avLst/>
          </a:prstGeom>
          <a:solidFill>
            <a:srgbClr val="2E75B6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1097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508760" y="1097280"/>
            <a:ext cx="2926080" cy="457200"/>
          </a:xfrm>
          <a:prstGeom prst="rect">
            <a:avLst/>
          </a:prstGeom>
          <a:solidFill>
            <a:srgbClr val="2E75B6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08760" y="1097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34840" y="1097280"/>
            <a:ext cx="2286000" cy="457200"/>
          </a:xfrm>
          <a:prstGeom prst="rect">
            <a:avLst/>
          </a:prstGeom>
          <a:solidFill>
            <a:srgbClr val="2E75B6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1097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20840" y="1097280"/>
            <a:ext cx="2377440" cy="457200"/>
          </a:xfrm>
          <a:prstGeom prst="rect">
            <a:avLst/>
          </a:prstGeom>
          <a:solidFill>
            <a:srgbClr val="2E75B6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20840" y="10972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Render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" y="1554480"/>
            <a:ext cx="1463040" cy="640080"/>
          </a:xfrm>
          <a:prstGeom prst="rect">
            <a:avLst/>
          </a:prstGeom>
          <a:solidFill>
            <a:srgbClr val="2E75B6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155448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08760" y="1554480"/>
            <a:ext cx="2926080" cy="640080"/>
          </a:xfrm>
          <a:prstGeom prst="rect">
            <a:avLst/>
          </a:prstGeom>
          <a:solidFill>
            <a:srgbClr val="0F1B2D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81912" y="15544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web, proxy vers Auth &amp; API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434840" y="1554480"/>
            <a:ext cx="2286000" cy="640080"/>
          </a:xfrm>
          <a:prstGeom prst="rect">
            <a:avLst/>
          </a:prstGeom>
          <a:solidFill>
            <a:srgbClr val="0F1B2D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07992" y="15544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:8002 + Tailwind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20840" y="1554480"/>
            <a:ext cx="2377440" cy="640080"/>
          </a:xfrm>
          <a:prstGeom prst="rect">
            <a:avLst/>
          </a:prstGeom>
          <a:solidFill>
            <a:srgbClr val="0F1B2D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93992" y="1554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B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akri-frontend.onrender.com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" y="2194560"/>
            <a:ext cx="1463040" cy="640080"/>
          </a:xfrm>
          <a:prstGeom prst="rect">
            <a:avLst/>
          </a:prstGeom>
          <a:solidFill>
            <a:srgbClr val="1A5E3A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219456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08760" y="2194560"/>
            <a:ext cx="2926080" cy="640080"/>
          </a:xfrm>
          <a:prstGeom prst="rect">
            <a:avLst/>
          </a:prstGeom>
          <a:solidFill>
            <a:srgbClr val="162032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81912" y="21945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Comptes, JWT, Redis blacklist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34840" y="2194560"/>
            <a:ext cx="2286000" cy="640080"/>
          </a:xfrm>
          <a:prstGeom prst="rect">
            <a:avLst/>
          </a:prstGeom>
          <a:solidFill>
            <a:srgbClr val="162032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07992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DRF :8000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20840" y="2194560"/>
            <a:ext cx="2377440" cy="640080"/>
          </a:xfrm>
          <a:prstGeom prst="rect">
            <a:avLst/>
          </a:prstGeom>
          <a:solidFill>
            <a:srgbClr val="162032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93992" y="21945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B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akri-auth.onrender.com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" y="2834640"/>
            <a:ext cx="1463040" cy="640080"/>
          </a:xfrm>
          <a:prstGeom prst="rect">
            <a:avLst/>
          </a:prstGeom>
          <a:solidFill>
            <a:srgbClr val="5E4A1A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8872" y="28346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08760" y="2834640"/>
            <a:ext cx="2926080" cy="640080"/>
          </a:xfrm>
          <a:prstGeom prst="rect">
            <a:avLst/>
          </a:prstGeom>
          <a:solidFill>
            <a:srgbClr val="0F1B2D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81912" y="283464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Voitures, réservations, avis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434840" y="2834640"/>
            <a:ext cx="2286000" cy="640080"/>
          </a:xfrm>
          <a:prstGeom prst="rect">
            <a:avLst/>
          </a:prstGeom>
          <a:solidFill>
            <a:srgbClr val="0F1B2D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07992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DRF :8001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720840" y="2834640"/>
            <a:ext cx="2377440" cy="640080"/>
          </a:xfrm>
          <a:prstGeom prst="rect">
            <a:avLst/>
          </a:prstGeom>
          <a:solidFill>
            <a:srgbClr val="0F1B2D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93992" y="28346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B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akri-api.onrender.com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" y="3474720"/>
            <a:ext cx="1463040" cy="640080"/>
          </a:xfrm>
          <a:prstGeom prst="rect">
            <a:avLst/>
          </a:prstGeom>
          <a:solidFill>
            <a:srgbClr val="3A1A5E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34747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508760" y="3474720"/>
            <a:ext cx="2926080" cy="640080"/>
          </a:xfrm>
          <a:prstGeom prst="rect">
            <a:avLst/>
          </a:prstGeom>
          <a:solidFill>
            <a:srgbClr val="162032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581912" y="347472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asynchrones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434840" y="3474720"/>
            <a:ext cx="2286000" cy="640080"/>
          </a:xfrm>
          <a:prstGeom prst="rect">
            <a:avLst/>
          </a:prstGeom>
          <a:solidFill>
            <a:srgbClr val="162032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07992" y="34747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Pika (AMQPS)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720840" y="3474720"/>
            <a:ext cx="2377440" cy="640080"/>
          </a:xfrm>
          <a:prstGeom prst="rect">
            <a:avLst/>
          </a:prstGeom>
          <a:solidFill>
            <a:srgbClr val="162032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93992" y="34747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B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akri-worker.onrender.com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REST Synchrone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097280" cy="5029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1371600"/>
            <a:ext cx="1280160" cy="548640"/>
          </a:xfrm>
          <a:prstGeom prst="rect">
            <a:avLst/>
          </a:prstGeom>
          <a:solidFill>
            <a:srgbClr val="162540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82880" y="1371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463040" y="1645920"/>
            <a:ext cx="548640" cy="0"/>
          </a:xfrm>
          <a:prstGeom prst="line">
            <a:avLst/>
          </a:prstGeom>
          <a:noFill/>
          <a:ln w="25400">
            <a:solidFill>
              <a:srgbClr val="7AB5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08760" y="1051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A8C4"/>
                </a:solidFill>
              </a:rPr>
              <a:t>HTTP + cookie JWT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011680" y="1371600"/>
            <a:ext cx="1554480" cy="548640"/>
          </a:xfrm>
          <a:prstGeom prst="rect">
            <a:avLst/>
          </a:prstGeom>
          <a:solidFill>
            <a:srgbClr val="1A4F8A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011680" y="13716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:8002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66160" y="1645920"/>
            <a:ext cx="548640" cy="0"/>
          </a:xfrm>
          <a:prstGeom prst="line">
            <a:avLst/>
          </a:prstGeom>
          <a:noFill/>
          <a:ln w="25400">
            <a:solidFill>
              <a:srgbClr val="7AB5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1645920"/>
            <a:ext cx="0" cy="-594360"/>
          </a:xfrm>
          <a:prstGeom prst="line">
            <a:avLst/>
          </a:prstGeom>
          <a:noFill/>
          <a:ln w="25400">
            <a:solidFill>
              <a:srgbClr val="7AB5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0" y="1234440"/>
            <a:ext cx="548640" cy="0"/>
          </a:xfrm>
          <a:prstGeom prst="line">
            <a:avLst/>
          </a:prstGeom>
          <a:noFill/>
          <a:ln w="25400">
            <a:solidFill>
              <a:srgbClr val="7AB5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868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A8C4"/>
                </a:solidFill>
              </a:rPr>
              <a:t>REST /api/auth/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63440" y="960120"/>
            <a:ext cx="1645920" cy="548640"/>
          </a:xfrm>
          <a:prstGeom prst="rect">
            <a:avLst/>
          </a:prstGeom>
          <a:solidFill>
            <a:srgbClr val="1A5E3A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63440" y="960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:8000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66160" y="1645920"/>
            <a:ext cx="0" cy="548640"/>
          </a:xfrm>
          <a:prstGeom prst="line">
            <a:avLst/>
          </a:prstGeom>
          <a:noFill/>
          <a:ln w="25400">
            <a:solidFill>
              <a:srgbClr val="7AB5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66160" y="2194560"/>
            <a:ext cx="548640" cy="0"/>
          </a:xfrm>
          <a:prstGeom prst="line">
            <a:avLst/>
          </a:prstGeom>
          <a:noFill/>
          <a:ln w="25400">
            <a:solidFill>
              <a:srgbClr val="7AB5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46120" y="25146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A8C4"/>
                </a:solidFill>
              </a:rPr>
              <a:t>REST /api/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114800" y="2560320"/>
            <a:ext cx="1645920" cy="548640"/>
          </a:xfrm>
          <a:prstGeom prst="rect">
            <a:avLst/>
          </a:prstGeom>
          <a:solidFill>
            <a:srgbClr val="5E4A1A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114800" y="25603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:8001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760720" y="2834640"/>
            <a:ext cx="548640" cy="0"/>
          </a:xfrm>
          <a:prstGeom prst="line">
            <a:avLst/>
          </a:prstGeom>
          <a:noFill/>
          <a:ln w="25400">
            <a:solidFill>
              <a:srgbClr val="8BA8C4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309360" y="2834640"/>
            <a:ext cx="0" cy="-1051560"/>
          </a:xfrm>
          <a:prstGeom prst="line">
            <a:avLst/>
          </a:prstGeom>
          <a:noFill/>
          <a:ln w="25400">
            <a:solidFill>
              <a:srgbClr val="8BA8C4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6309360" y="1234440"/>
            <a:ext cx="0" cy="0"/>
          </a:xfrm>
          <a:prstGeom prst="line">
            <a:avLst/>
          </a:prstGeom>
          <a:noFill/>
          <a:ln w="25400">
            <a:solidFill>
              <a:srgbClr val="8BA8C4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40080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BA8C4"/>
                </a:solidFill>
              </a:rPr>
              <a:t>verify token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" y="3520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JWT stocké en cookie httpOnly — invisible au JavaScript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8679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Toutes les requêtes passent obligatoirement par le Frontend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21538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L'API vérifie chaque token via l'Auth Service (middleware Consul-aware)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Discovery — Consul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097280" cy="5029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51560"/>
            <a:ext cx="3931920" cy="2560320"/>
          </a:xfrm>
          <a:prstGeom prst="rect">
            <a:avLst/>
          </a:prstGeom>
          <a:solidFill>
            <a:srgbClr val="162032"/>
          </a:solidFill>
          <a:ln w="12700">
            <a:solidFill>
              <a:srgbClr val="1A4F8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51560"/>
            <a:ext cx="64008" cy="25603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143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AB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0352" y="1435608"/>
            <a:ext cx="365760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service s'enregistre au démarrage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Service découvre Auth via Consul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 toutes les 10 secondes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de vérification : /api/auth/verify/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3611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service s'enregistre au démarrage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Service découvre Auth via Consul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 toutes les 10 secondes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de vérification : /api/auth/verify/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051560"/>
            <a:ext cx="3931920" cy="2560320"/>
          </a:xfrm>
          <a:prstGeom prst="rect">
            <a:avLst/>
          </a:prstGeom>
          <a:solidFill>
            <a:srgbClr val="162032"/>
          </a:solidFill>
          <a:ln w="12700">
            <a:solidFill>
              <a:srgbClr val="1A4F8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051560"/>
            <a:ext cx="64008" cy="25603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10912" y="1143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AB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sur Render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0" y="1508760"/>
            <a:ext cx="3611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CONSUL_HOST vide  →  fallback automatique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AUTH_SERVICE_URL utilisé en remplacement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Consul-aware sans dépendance forcée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modification de code requise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749040"/>
            <a:ext cx="8412480" cy="868680"/>
          </a:xfrm>
          <a:prstGeom prst="rect">
            <a:avLst/>
          </a:prstGeom>
          <a:solidFill>
            <a:srgbClr val="1A4F8A">
              <a:alpha val="70000"/>
            </a:srgbClr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7490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B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prête pour activation en production — Code Consul déjà présent dans chaque service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 Asynchrone — RabbitMQ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097280" cy="5029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463040"/>
            <a:ext cx="1737360" cy="594360"/>
          </a:xfrm>
          <a:prstGeom prst="rect">
            <a:avLst/>
          </a:prstGeom>
          <a:solidFill>
            <a:srgbClr val="5E4A1A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:8001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11680" y="1760220"/>
            <a:ext cx="914400" cy="0"/>
          </a:xfrm>
          <a:prstGeom prst="line">
            <a:avLst/>
          </a:prstGeom>
          <a:noFill/>
          <a:ln w="25400">
            <a:solidFill>
              <a:srgbClr val="7AB5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0" y="10058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8C4"/>
                </a:solidFill>
              </a:rPr>
              <a:t>AMQPS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BA8C4"/>
                </a:solidFill>
              </a:rPr>
              <a:t>publish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926080" y="1463040"/>
            <a:ext cx="2194560" cy="594360"/>
          </a:xfrm>
          <a:prstGeom prst="rect">
            <a:avLst/>
          </a:prstGeom>
          <a:solidFill>
            <a:srgbClr val="8B1A1A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26080" y="14630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CloudAMQP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(RabbitMQ)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120640" y="1760220"/>
            <a:ext cx="914400" cy="0"/>
          </a:xfrm>
          <a:prstGeom prst="line">
            <a:avLst/>
          </a:prstGeom>
          <a:noFill/>
          <a:ln w="25400">
            <a:solidFill>
              <a:srgbClr val="7AB5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10058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8C4"/>
                </a:solidFill>
              </a:rPr>
              <a:t>AMQPS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BA8C4"/>
                </a:solidFill>
              </a:rPr>
              <a:t>consume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2011680" cy="594360"/>
          </a:xfrm>
          <a:prstGeom prst="rect">
            <a:avLst/>
          </a:prstGeom>
          <a:solidFill>
            <a:srgbClr val="3A1A5E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35040" y="14630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B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Queues :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8229600" cy="502920"/>
          </a:xfrm>
          <a:prstGeom prst="rect">
            <a:avLst/>
          </a:prstGeom>
          <a:solidFill>
            <a:srgbClr val="162032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697480"/>
            <a:ext cx="64008" cy="50292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6974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booking.confirmed  </a:t>
            </a:r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Réservation confirmée par l'agence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91840"/>
            <a:ext cx="8229600" cy="502920"/>
          </a:xfrm>
          <a:prstGeom prst="rect">
            <a:avLst/>
          </a:prstGeom>
          <a:solidFill>
            <a:srgbClr val="162032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291840"/>
            <a:ext cx="64008" cy="5029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booking.cancelled  </a:t>
            </a:r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Réservation annulée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Découplage : Worker indépendant de la logique métier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325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Extensible : email, SMS, push notifications sans toucher l'API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67258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Broker managé CloudAMQP — haute disponibilité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097280" cy="5029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97280"/>
            <a:ext cx="4160520" cy="1645920"/>
          </a:xfrm>
          <a:prstGeom prst="rect">
            <a:avLst/>
          </a:prstGeom>
          <a:solidFill>
            <a:srgbClr val="162032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4160520" cy="365760"/>
          </a:xfrm>
          <a:prstGeom prst="rect">
            <a:avLst/>
          </a:prstGeom>
          <a:solidFill>
            <a:srgbClr val="2E75B6">
              <a:alpha val="80000"/>
            </a:srgbClr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1097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— PyJWT HS256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53619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Token valide 7 jours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8288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Cookie httpOnly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1214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Invisible au JavaScript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41401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Algorithme HS256 + clé secrète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097280"/>
            <a:ext cx="4160520" cy="1645920"/>
          </a:xfrm>
          <a:prstGeom prst="rect">
            <a:avLst/>
          </a:prstGeom>
          <a:solidFill>
            <a:srgbClr val="162032"/>
          </a:solidFill>
          <a:ln w="12700">
            <a:solidFill>
              <a:srgbClr val="E74C3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097280"/>
            <a:ext cx="4160520" cy="365760"/>
          </a:xfrm>
          <a:prstGeom prst="rect">
            <a:avLst/>
          </a:prstGeom>
          <a:solidFill>
            <a:srgbClr val="E74C3C">
              <a:alpha val="80000"/>
            </a:srgbClr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18888" y="1097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Blacklist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53619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Invalidation à la déconnexion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8288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Vérification systématique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21214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Empêche la réutilisation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241401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Instance Render managée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880360"/>
            <a:ext cx="4160520" cy="1645920"/>
          </a:xfrm>
          <a:prstGeom prst="rect">
            <a:avLst/>
          </a:prstGeom>
          <a:solidFill>
            <a:srgbClr val="162032"/>
          </a:solidFill>
          <a:ln w="12700">
            <a:solidFill>
              <a:srgbClr val="F39C1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880360"/>
            <a:ext cx="4160520" cy="365760"/>
          </a:xfrm>
          <a:prstGeom prst="rect">
            <a:avLst/>
          </a:prstGeom>
          <a:solidFill>
            <a:srgbClr val="F39C12">
              <a:alpha val="80000"/>
            </a:srgbClr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2880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d'accès par rôle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1480" y="331927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client → réservations &amp; profil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36118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agency → tableau de bord &amp; flotte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39044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admin → modération &amp; gestion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" y="419709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Rôle encodé dans le payload JWT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09160" y="2880360"/>
            <a:ext cx="4160520" cy="1645920"/>
          </a:xfrm>
          <a:prstGeom prst="rect">
            <a:avLst/>
          </a:prstGeom>
          <a:solidFill>
            <a:srgbClr val="162032"/>
          </a:solidFill>
          <a:ln w="12700">
            <a:solidFill>
              <a:srgbClr val="2ECC7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09160" y="2880360"/>
            <a:ext cx="4160520" cy="365760"/>
          </a:xfrm>
          <a:prstGeom prst="rect">
            <a:avLst/>
          </a:prstGeom>
          <a:solidFill>
            <a:srgbClr val="2ECC71">
              <a:alpha val="80000"/>
            </a:srgbClr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18888" y="2880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verrouillé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846320" y="331927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Origines Render uniquement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36118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Frontend, Auth, API autorisés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46320" y="39044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Toute autre origine rejetée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46320" y="419709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Configuration par variable env.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Multi-Serveurs — Render.com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097280" cy="5029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1051560"/>
            <a:ext cx="2103120" cy="1554480"/>
          </a:xfrm>
          <a:prstGeom prst="rect">
            <a:avLst/>
          </a:prstGeom>
          <a:solidFill>
            <a:srgbClr val="162032"/>
          </a:solidFill>
          <a:ln w="254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2880" y="1051560"/>
            <a:ext cx="2103120" cy="4114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105156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56032" y="15087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B5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akri-frontend.onrender.com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56032" y="18745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Service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23160" y="1051560"/>
            <a:ext cx="2103120" cy="1554480"/>
          </a:xfrm>
          <a:prstGeom prst="rect">
            <a:avLst/>
          </a:prstGeom>
          <a:solidFill>
            <a:srgbClr val="162032"/>
          </a:solidFill>
          <a:ln w="25400">
            <a:solidFill>
              <a:srgbClr val="1A5E3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1051560"/>
            <a:ext cx="2103120" cy="411480"/>
          </a:xfrm>
          <a:prstGeom prst="rect">
            <a:avLst/>
          </a:prstGeom>
          <a:solidFill>
            <a:srgbClr val="1A5E3A"/>
          </a:solidFill>
          <a:ln w="12700">
            <a:solidFill>
              <a:srgbClr val="1A5E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23160" y="105156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496312" y="15087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B5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akri-auth.onrender.com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496312" y="18745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Service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051560"/>
            <a:ext cx="2103120" cy="1554480"/>
          </a:xfrm>
          <a:prstGeom prst="rect">
            <a:avLst/>
          </a:prstGeom>
          <a:solidFill>
            <a:srgbClr val="162032"/>
          </a:solidFill>
          <a:ln w="25400">
            <a:solidFill>
              <a:srgbClr val="5E4A1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051560"/>
            <a:ext cx="2103120" cy="411480"/>
          </a:xfrm>
          <a:prstGeom prst="rect">
            <a:avLst/>
          </a:prstGeom>
          <a:solidFill>
            <a:srgbClr val="5E4A1A"/>
          </a:solidFill>
          <a:ln w="12700">
            <a:solidFill>
              <a:srgbClr val="5E4A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105156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36592" y="15087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B5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akri-api.onrender.com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36592" y="18745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Service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03720" y="1051560"/>
            <a:ext cx="2103120" cy="1554480"/>
          </a:xfrm>
          <a:prstGeom prst="rect">
            <a:avLst/>
          </a:prstGeom>
          <a:solidFill>
            <a:srgbClr val="162032"/>
          </a:solidFill>
          <a:ln w="25400">
            <a:solidFill>
              <a:srgbClr val="3A1A5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03720" y="1051560"/>
            <a:ext cx="2103120" cy="411480"/>
          </a:xfrm>
          <a:prstGeom prst="rect">
            <a:avLst/>
          </a:prstGeom>
          <a:solidFill>
            <a:srgbClr val="3A1A5E"/>
          </a:solidFill>
          <a:ln w="12700">
            <a:solidFill>
              <a:srgbClr val="3A1A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03720" y="105156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76872" y="15087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B5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akri-worker.onrender.com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76872" y="18745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Worker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74320" y="2788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B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partagée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74320" y="310896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PostgreSQL (Render managed)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63440" y="310896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Redis (Render managed)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74320" y="35204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CloudAMQP — RabbitMQ cloud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63440" y="35204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Cloudinary — CDN images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74320" y="4617720"/>
            <a:ext cx="8595360" cy="347472"/>
          </a:xfrm>
          <a:prstGeom prst="rect">
            <a:avLst/>
          </a:prstGeom>
          <a:solidFill>
            <a:srgbClr val="1A4F8A">
              <a:alpha val="60000"/>
            </a:srgbClr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61772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B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d'environnement séparées par service — Aucune configuration partagée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Métier — Cycle de Réservation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097280" cy="5029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828800"/>
            <a:ext cx="2286000" cy="685800"/>
          </a:xfrm>
          <a:prstGeom prst="rect">
            <a:avLst/>
          </a:prstGeom>
          <a:solidFill>
            <a:srgbClr val="F39C12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82880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PENDING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91840" y="1828800"/>
            <a:ext cx="2286000" cy="685800"/>
          </a:xfrm>
          <a:prstGeom prst="rect">
            <a:avLst/>
          </a:prstGeom>
          <a:solidFill>
            <a:srgbClr val="2E75B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91840" y="182880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CONFIRMED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26480" y="1828800"/>
            <a:ext cx="2286000" cy="685800"/>
          </a:xfrm>
          <a:prstGeom prst="rect">
            <a:avLst/>
          </a:prstGeom>
          <a:solidFill>
            <a:srgbClr val="2ECC71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126480" y="182880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3108960"/>
            <a:ext cx="2286000" cy="685800"/>
          </a:xfrm>
          <a:prstGeom prst="rect">
            <a:avLst/>
          </a:prstGeom>
          <a:solidFill>
            <a:srgbClr val="E74C3C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31089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CANCELLED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0" y="2171700"/>
            <a:ext cx="54864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577840" y="2171700"/>
            <a:ext cx="548640" cy="0"/>
          </a:xfrm>
          <a:prstGeom prst="line">
            <a:avLst/>
          </a:prstGeom>
          <a:noFill/>
          <a:ln w="25400">
            <a:solidFill>
              <a:srgbClr val="2ECC7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2514600"/>
            <a:ext cx="0" cy="594360"/>
          </a:xfrm>
          <a:prstGeom prst="line">
            <a:avLst/>
          </a:prstGeom>
          <a:noFill/>
          <a:ln w="25400">
            <a:solidFill>
              <a:srgbClr val="E74C3C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74320" y="3895344"/>
            <a:ext cx="256032" cy="256032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3895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913632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soumet une demande → PENDING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4187952"/>
            <a:ext cx="256032" cy="256032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20624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 confirme → CONFIRMED   +   event booking.confirmed publié sur RabbitMQ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4480560"/>
            <a:ext cx="256032" cy="256032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44805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44988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 termine la location → COMPLETED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773168"/>
            <a:ext cx="256032" cy="256032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773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79145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Annulation → CANCELLED   +   event booking.cancelled publié sur RabbitMQ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 d'Évolution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097280" cy="5029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solidFill>
            <a:srgbClr val="162032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97280"/>
            <a:ext cx="64008" cy="5486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09728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Activation de Consul en production — code déjà présent dans chaque service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8412480" cy="548640"/>
          </a:xfrm>
          <a:prstGeom prst="rect">
            <a:avLst/>
          </a:prstGeom>
          <a:solidFill>
            <a:srgbClr val="162032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737360"/>
            <a:ext cx="64008" cy="5486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7373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 Notifications email / SMS via le Notification Worker — architecture extensible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8412480" cy="548640"/>
          </a:xfrm>
          <a:prstGeom prst="rect">
            <a:avLst/>
          </a:prstGeom>
          <a:solidFill>
            <a:srgbClr val="162032"/>
          </a:solidFill>
          <a:ln w="12700">
            <a:solidFill>
              <a:srgbClr val="7AB5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2377440"/>
            <a:ext cx="64008" cy="548640"/>
          </a:xfrm>
          <a:prstGeom prst="rect">
            <a:avLst/>
          </a:prstGeom>
          <a:solidFill>
            <a:srgbClr val="7AB5E3"/>
          </a:solidFill>
          <a:ln w="12700">
            <a:solidFill>
              <a:srgbClr val="7AB5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3774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Application mobile React Native ou Flutter utilisant le même API Service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017520"/>
            <a:ext cx="8412480" cy="548640"/>
          </a:xfrm>
          <a:prstGeom prst="rect">
            <a:avLst/>
          </a:prstGeom>
          <a:solidFill>
            <a:srgbClr val="16203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3017520"/>
            <a:ext cx="64008" cy="5486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0175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  Système de paiement intégré — CIB, Dahabia (cartes bancaires algériennes)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3657600"/>
            <a:ext cx="8412480" cy="548640"/>
          </a:xfrm>
          <a:prstGeom prst="rect">
            <a:avLst/>
          </a:prstGeom>
          <a:solidFill>
            <a:srgbClr val="162032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657600"/>
            <a:ext cx="64008" cy="5486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65760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 Traefik comme reverse proxy avec TLS automatique et routing avancé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" y="4297680"/>
            <a:ext cx="8412480" cy="548640"/>
          </a:xfrm>
          <a:prstGeom prst="rect">
            <a:avLst/>
          </a:prstGeom>
          <a:solidFill>
            <a:srgbClr val="162032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4297680"/>
            <a:ext cx="64008" cy="54864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29768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Monitoring avec Prometheus + Grafana — métriques et alertes en temps réel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4F8A"/>
          </a:solidFill>
          <a:ln w="12700">
            <a:solidFill>
              <a:srgbClr val="1A4F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017520"/>
          </a:xfrm>
          <a:prstGeom prst="rect">
            <a:avLst/>
          </a:prstGeom>
          <a:solidFill>
            <a:srgbClr val="162032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4114800" cy="4114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est implémenté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50876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4 microservices déployés indépendamment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984248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REST synchrone + RabbitMQ asynchrone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459736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JWT + Redis blacklist + CORS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935224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Consul service discovery (fallback gracieux)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341071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Interface web complète — 58 wilayas, tous rôles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4114800" cy="3017520"/>
          </a:xfrm>
          <a:prstGeom prst="rect">
            <a:avLst/>
          </a:prstGeom>
          <a:solidFill>
            <a:srgbClr val="162032"/>
          </a:solidFill>
          <a:ln w="12700">
            <a:solidFill>
              <a:srgbClr val="2ECC7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005840"/>
            <a:ext cx="4114800" cy="411480"/>
          </a:xfrm>
          <a:prstGeom prst="rect">
            <a:avLst/>
          </a:prstGeom>
          <a:solidFill>
            <a:srgbClr val="2ECC71">
              <a:alpha val="80000"/>
            </a:srgbClr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Critères AOS couverts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15087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Design : architecture microservices documentée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0600" y="19842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Implémentation : code fonctionnel en production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00600" y="245973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Multi-serveurs : 4 services Render indépendants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00600" y="293522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Async + Sécurité : RabbitMQ + JWT + Redis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4107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Documentation : rapport + diagramme + slides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07101C"/>
          </a:solidFill>
          <a:ln w="12700">
            <a:solidFill>
              <a:srgbClr val="0710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1605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Akri.dz — Location de voitures en Algérie  |  AOS 2024-2025  |  Hamdi Islem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Akri.dz — Architecture Microservices</dc:title>
  <dc:subject>PptxGenJS Presentation</dc:subject>
  <dc:creator>Hamdi Islem</dc:creator>
  <cp:lastModifiedBy>Hamdi Islem</cp:lastModifiedBy>
  <cp:revision>1</cp:revision>
  <dcterms:created xsi:type="dcterms:W3CDTF">2026-05-03T20:06:25Z</dcterms:created>
  <dcterms:modified xsi:type="dcterms:W3CDTF">2026-05-03T20:06:25Z</dcterms:modified>
</cp:coreProperties>
</file>